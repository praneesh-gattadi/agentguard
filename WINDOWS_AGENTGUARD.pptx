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089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691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RUNTIME SAFETY FOR AI AGENTS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0" y="205740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0" y="301752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Intercept.  Simulate.  Repair.  Execute Safely.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10105" y="3703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policy-first interception layer for autonomous AI agents. AgentGuard detects risky tool calls before execution, estimates impact in an isolated sandbox, and proposes a constrained repair - then re-validates the result before release.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90776" y="5623560"/>
            <a:ext cx="8010144" cy="0"/>
          </a:xfrm>
          <a:prstGeom prst="line">
            <a:avLst/>
          </a:prstGeom>
          <a:noFill/>
          <a:ln w="19050">
            <a:solidFill>
              <a:srgbClr val="263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8440" y="5422392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88440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66648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92600" y="542239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92600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70808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96760" y="5422392"/>
            <a:ext cx="402336" cy="40233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96760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4968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100920" y="5422392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100920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79128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B21B64-5A05-AC02-4EEB-B582E9EEE91C}"/>
              </a:ext>
            </a:extLst>
          </p:cNvPr>
          <p:cNvSpPr txBox="1"/>
          <p:nvPr/>
        </p:nvSpPr>
        <p:spPr>
          <a:xfrm>
            <a:off x="4809148" y="926662"/>
            <a:ext cx="257339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WINDOWS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PROBLEM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Autonomy Paradox: Broad Permissions, Limited Runtime Control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76218" cy="3063240"/>
          </a:xfrm>
          <a:prstGeom prst="roundRect">
            <a:avLst>
              <a:gd name="adj" fmla="val 2388"/>
            </a:avLst>
          </a:prstGeom>
          <a:solidFill>
            <a:srgbClr val="141F3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47672"/>
            <a:ext cx="502920" cy="822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14884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Evasion-prone filters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31190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and regex checks can miss obfuscation, encoding, string composition and multi-step tool chains.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07738" y="1691640"/>
            <a:ext cx="3576218" cy="3063240"/>
          </a:xfrm>
          <a:prstGeom prst="roundRect">
            <a:avLst>
              <a:gd name="adj" fmla="val 2388"/>
            </a:avLst>
          </a:prstGeom>
          <a:solidFill>
            <a:srgbClr val="141F35"/>
          </a:solidFill>
          <a:ln/>
        </p:spPr>
      </p:sp>
      <p:sp>
        <p:nvSpPr>
          <p:cNvPr id="9" name="Shape 7"/>
          <p:cNvSpPr/>
          <p:nvPr/>
        </p:nvSpPr>
        <p:spPr>
          <a:xfrm>
            <a:off x="4536338" y="1947672"/>
            <a:ext cx="502920" cy="822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36338" y="214884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Crash-and-halt guardrails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36338" y="2880360"/>
            <a:ext cx="31190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a risky action without a recovery path can interrupt workflows, increase retries and create operational downtime.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158277" y="1691640"/>
            <a:ext cx="3576218" cy="3063240"/>
          </a:xfrm>
          <a:prstGeom prst="roundRect">
            <a:avLst>
              <a:gd name="adj" fmla="val 2388"/>
            </a:avLst>
          </a:prstGeom>
          <a:solidFill>
            <a:srgbClr val="141F35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6877" y="1947672"/>
            <a:ext cx="502920" cy="822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86877" y="214884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blast radius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86877" y="2880360"/>
            <a:ext cx="31190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with shell or database access can turn one injected or hallucinated instruction into destructive production changes.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FB92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0292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1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AFFECTED:  </a:t>
            </a:r>
            <a:r>
              <a:rPr lang="en-US" dirty="0">
                <a:solidFill>
                  <a:srgbClr val="3A1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builders, platform teams, SOC teams and operators of automated workflows.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 CORE SOLUTION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 Interception: Deterministic Fast Path + Constrained Repair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01488" cy="2148840"/>
          </a:xfrm>
          <a:prstGeom prst="roundRect">
            <a:avLst>
              <a:gd name="adj" fmla="val 3404"/>
            </a:avLst>
          </a:prstGeom>
          <a:solidFill>
            <a:srgbClr val="141F3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92808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interception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and token-level checks identify destructive intent without depending on an LLM for every request.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5501488" cy="2148840"/>
          </a:xfrm>
          <a:prstGeom prst="roundRect">
            <a:avLst>
              <a:gd name="adj" fmla="val 3404"/>
            </a:avLst>
          </a:prstGeom>
          <a:solidFill>
            <a:srgbClr val="141F35"/>
          </a:solidFill>
          <a:ln/>
        </p:spPr>
      </p:sp>
      <p:sp>
        <p:nvSpPr>
          <p:cNvPr id="10" name="Shape 8"/>
          <p:cNvSpPr/>
          <p:nvPr/>
        </p:nvSpPr>
        <p:spPr>
          <a:xfrm>
            <a:off x="6461608" y="1920240"/>
            <a:ext cx="457200" cy="4572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160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01688" y="1892808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impact analysis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256032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mutations are tested in an ephemeral SQLite sandbox to estimate affected rows, schema changes and configured asset exposure.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5501488" cy="2148840"/>
          </a:xfrm>
          <a:prstGeom prst="roundRect">
            <a:avLst>
              <a:gd name="adj" fmla="val 3404"/>
            </a:avLst>
          </a:prstGeom>
          <a:solidFill>
            <a:srgbClr val="141F35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29768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70248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self-healing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proposes a safer, scoped operation that preserves business intent where possible; the kernel re-checks every repaired payload.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33008" y="4069080"/>
            <a:ext cx="5501488" cy="2148840"/>
          </a:xfrm>
          <a:prstGeom prst="roundRect">
            <a:avLst>
              <a:gd name="adj" fmla="val 3404"/>
            </a:avLst>
          </a:prstGeom>
          <a:solidFill>
            <a:srgbClr val="141F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1608" y="429768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160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01688" y="4270248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with control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493776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requests continue normally. Risky requests are held, repaired or escalated without allowing the generative model to bypass deterministic policy checks.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COVERAGE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Runtime Attack Vectors and Their Containment Responses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504282"/>
              </p:ext>
            </p:extLst>
          </p:nvPr>
        </p:nvGraphicFramePr>
        <p:xfrm>
          <a:off x="457200" y="1408176"/>
          <a:ext cx="11274552" cy="501091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VECTOR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/ TRIGGER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1: Data mutation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 DELETE/DROP or missing WHERE constraints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sqlglot AST rules + SQLite dry-run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scope, propose soft-delete or approval workflow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2: OS sabotage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-rf, fork-bombs, unsafe shell pipelines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POSIX tokenization + syscall policy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Quarantine, deny dangerous </a:t>
                      </a:r>
                      <a:r>
                        <a:rPr lang="en-US" sz="1800" dirty="0" err="1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syscalls</a:t>
                      </a: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enforce resource limits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3: Credential exposure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keys, private keys, SSH material in outputs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Secret-pattern and entropy heuristics + token traps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Redact, replace with canaries in testing, and alert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4: Supply-chain risk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Curl/bash, unverified or typo-squatted packages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checks + checksum/signature policy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verification, isolate untrusted execution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5: Runaway execution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 tools, repeated retries and cost drain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Invocation graph + budget/time limits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recursion, return controlled fallback or request approval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BLUEPRINT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Interception and Invariant Verification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33856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FIRST  •  REPAIR ONLY WHEN NEEDED  •  RE-VALIDATE BEFORE RELEASE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757629" cy="3977640"/>
          </a:xfrm>
          <a:prstGeom prst="roundRect">
            <a:avLst>
              <a:gd name="adj" fmla="val 3642"/>
            </a:avLst>
          </a:prstGeom>
          <a:solidFill>
            <a:srgbClr val="141F35"/>
          </a:solidFill>
          <a:ln/>
        </p:spPr>
      </p:sp>
      <p:sp>
        <p:nvSpPr>
          <p:cNvPr id="6" name="Shape 4"/>
          <p:cNvSpPr/>
          <p:nvPr/>
        </p:nvSpPr>
        <p:spPr>
          <a:xfrm>
            <a:off x="1143991" y="2020824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991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42032"/>
            <a:ext cx="15747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Interception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3063240"/>
            <a:ext cx="150159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JSON-RPC enters FastAPI gateway.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391869" cy="0"/>
          </a:xfrm>
          <a:prstGeom prst="line">
            <a:avLst/>
          </a:prstGeom>
          <a:noFill/>
          <a:ln w="12700">
            <a:solidFill>
              <a:srgbClr val="263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4846320"/>
            <a:ext cx="15015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r>
              <a:rPr lang="en-US" sz="1500" i="1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intent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61133" y="1828800"/>
            <a:ext cx="1757629" cy="3977640"/>
          </a:xfrm>
          <a:prstGeom prst="roundRect">
            <a:avLst>
              <a:gd name="adj" fmla="val 3642"/>
            </a:avLst>
          </a:prstGeom>
          <a:solidFill>
            <a:srgbClr val="141F35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7924" y="2020824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47924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452573" y="2542032"/>
            <a:ext cx="15747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489149" y="3063240"/>
            <a:ext cx="150159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supported encodings.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44013" y="4663440"/>
            <a:ext cx="1391869" cy="0"/>
          </a:xfrm>
          <a:prstGeom prst="line">
            <a:avLst/>
          </a:prstGeom>
          <a:noFill/>
          <a:ln w="12700">
            <a:solidFill>
              <a:srgbClr val="2631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9149" y="4846320"/>
            <a:ext cx="15015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r>
              <a:rPr lang="en-US" sz="1500" i="1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payload + provenance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65066" y="1828800"/>
            <a:ext cx="1757629" cy="3977640"/>
          </a:xfrm>
          <a:prstGeom prst="roundRect">
            <a:avLst>
              <a:gd name="adj" fmla="val 3642"/>
            </a:avLst>
          </a:prstGeom>
          <a:solidFill>
            <a:srgbClr val="141F35"/>
          </a:solidFill>
          <a:ln/>
        </p:spPr>
      </p:sp>
      <p:sp>
        <p:nvSpPr>
          <p:cNvPr id="20" name="Shape 18"/>
          <p:cNvSpPr/>
          <p:nvPr/>
        </p:nvSpPr>
        <p:spPr>
          <a:xfrm>
            <a:off x="4951857" y="2020824"/>
            <a:ext cx="384048" cy="38404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51857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356506" y="2542032"/>
            <a:ext cx="15747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AST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393082" y="3063240"/>
            <a:ext cx="150159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SQL/POSIX rules and invariants.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447946" y="4663440"/>
            <a:ext cx="1391869" cy="0"/>
          </a:xfrm>
          <a:prstGeom prst="line">
            <a:avLst/>
          </a:prstGeom>
          <a:noFill/>
          <a:ln w="12700">
            <a:solidFill>
              <a:srgbClr val="2631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93082" y="4846320"/>
            <a:ext cx="15015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r>
              <a:rPr lang="en-US" sz="1500" i="1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hold / deny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69000" y="1828800"/>
            <a:ext cx="1757629" cy="3977640"/>
          </a:xfrm>
          <a:prstGeom prst="roundRect">
            <a:avLst>
              <a:gd name="adj" fmla="val 3642"/>
            </a:avLst>
          </a:prstGeom>
          <a:solidFill>
            <a:srgbClr val="141F35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5790" y="2020824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579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114136" y="2529009"/>
            <a:ext cx="18124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sandbox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297016" y="3063240"/>
            <a:ext cx="150159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flagged mutation in isolated SQLite.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351880" y="4663440"/>
            <a:ext cx="1391869" cy="0"/>
          </a:xfrm>
          <a:prstGeom prst="line">
            <a:avLst/>
          </a:prstGeom>
          <a:noFill/>
          <a:ln w="12700">
            <a:solidFill>
              <a:srgbClr val="263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97016" y="4846320"/>
            <a:ext cx="15015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r>
              <a:rPr lang="en-US" sz="1500" i="1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rows + risk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072933" y="1828800"/>
            <a:ext cx="1757629" cy="3977640"/>
          </a:xfrm>
          <a:prstGeom prst="roundRect">
            <a:avLst>
              <a:gd name="adj" fmla="val 3642"/>
            </a:avLst>
          </a:prstGeom>
          <a:solidFill>
            <a:srgbClr val="141F35"/>
          </a:solidFill>
          <a:ln/>
        </p:spPr>
      </p:sp>
      <p:sp>
        <p:nvSpPr>
          <p:cNvPr id="34" name="Shape 32"/>
          <p:cNvSpPr/>
          <p:nvPr/>
        </p:nvSpPr>
        <p:spPr>
          <a:xfrm>
            <a:off x="8759723" y="2020824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59723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072932" y="2592324"/>
            <a:ext cx="1757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repair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200949" y="3063240"/>
            <a:ext cx="150159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constrained alternative.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8255813" y="4663440"/>
            <a:ext cx="1391869" cy="0"/>
          </a:xfrm>
          <a:prstGeom prst="line">
            <a:avLst/>
          </a:prstGeom>
          <a:noFill/>
          <a:ln w="12700">
            <a:solidFill>
              <a:srgbClr val="2631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00949" y="4846320"/>
            <a:ext cx="15015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r>
              <a:rPr lang="en-US" sz="1500" i="1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+ rationale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976866" y="1828800"/>
            <a:ext cx="1757629" cy="3977640"/>
          </a:xfrm>
          <a:prstGeom prst="roundRect">
            <a:avLst>
              <a:gd name="adj" fmla="val 3642"/>
            </a:avLst>
          </a:prstGeom>
          <a:solidFill>
            <a:srgbClr val="141F35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63657" y="2020824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663657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068306" y="2542032"/>
            <a:ext cx="15747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+ log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10104882" y="3063240"/>
            <a:ext cx="150159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checks, release only approved output.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0159746" y="4663440"/>
            <a:ext cx="1391869" cy="0"/>
          </a:xfrm>
          <a:prstGeom prst="line">
            <a:avLst/>
          </a:prstGeom>
          <a:noFill/>
          <a:ln w="12700">
            <a:solidFill>
              <a:srgbClr val="2631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104882" y="4846320"/>
            <a:ext cx="15015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r>
              <a:rPr lang="en-US" sz="1500" i="1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telemetry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AgentGuard Combines Deterministic Controls with Recovery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205417"/>
              </p:ext>
            </p:extLst>
          </p:nvPr>
        </p:nvGraphicFramePr>
        <p:xfrm>
          <a:off x="457200" y="1737360"/>
          <a:ext cx="11274552" cy="4389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FILTER-ONLY CONTROLS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LLM-ONLY GUARDS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AGENTGUARD DESIGN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basis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Keywords / patterns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judgment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7F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policy + AST + optional model repair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response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or pass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refuse or hallucinate a repair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7F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Hold, sandbox, repair or escalate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evidence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absent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estimated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7F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simulation with measurable effects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and evasion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 and composition gaps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AEB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Prompt-injection exposure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7F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 + invariant checks, model output is re-validated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Split-Screen: Terminal Agent vs. SOC War Room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33856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GOAL: SHOW THAT A DESTRUCTIVE REQUEST IS HELD BEFORE EXECUTION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01488" cy="4206240"/>
          </a:xfrm>
          <a:prstGeom prst="roundRect">
            <a:avLst>
              <a:gd name="adj" fmla="val 1739"/>
            </a:avLst>
          </a:prstGeom>
          <a:solidFill>
            <a:srgbClr val="141F3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5501488" cy="502920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039112"/>
            <a:ext cx="5501488" cy="2468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83080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TERMINAL: AGENT UNDER TEST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" y="2505456"/>
            <a:ext cx="310896" cy="3108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96312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request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70632"/>
            <a:ext cx="458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 LIMIT 10;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401568"/>
            <a:ext cx="310896" cy="3108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92424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request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666744"/>
            <a:ext cx="458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users;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297680"/>
            <a:ext cx="310896" cy="3108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288536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and hold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562856"/>
            <a:ext cx="458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is routed to the sandbox; production execution is not attempted.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" y="5193792"/>
            <a:ext cx="310896" cy="3108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184648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and re-verify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458968"/>
            <a:ext cx="458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soft-delete is checked for scope, invariants and policy compliance.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33008" y="1783080"/>
            <a:ext cx="5501488" cy="4206240"/>
          </a:xfrm>
          <a:prstGeom prst="roundRect">
            <a:avLst>
              <a:gd name="adj" fmla="val 1739"/>
            </a:avLst>
          </a:prstGeom>
          <a:solidFill>
            <a:srgbClr val="141F35"/>
          </a:solidFill>
          <a:ln/>
        </p:spPr>
      </p:sp>
      <p:sp>
        <p:nvSpPr>
          <p:cNvPr id="26" name="Shape 24"/>
          <p:cNvSpPr/>
          <p:nvPr/>
        </p:nvSpPr>
        <p:spPr>
          <a:xfrm>
            <a:off x="6233008" y="2039112"/>
            <a:ext cx="5501488" cy="24688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233008" y="1783080"/>
            <a:ext cx="5501488" cy="502920"/>
          </a:xfrm>
          <a:prstGeom prst="roundRect">
            <a:avLst>
              <a:gd name="adj" fmla="val 14545"/>
            </a:avLst>
          </a:prstGeom>
          <a:solidFill>
            <a:srgbClr val="FB92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1608" y="1783080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WAR ROOM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507328" y="2496312"/>
            <a:ext cx="495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Threat radar: Vector 1 - Storage Annihilation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Impact panel: sandbox-measured affected rows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Diff view: original payload vs. constrained candidate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Telemetry: interception time, repair time, decision and reason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61608" y="4937760"/>
            <a:ext cx="5044288" cy="822960"/>
          </a:xfrm>
          <a:prstGeom prst="roundRect">
            <a:avLst>
              <a:gd name="adj" fmla="val 7778"/>
            </a:avLst>
          </a:prstGeom>
          <a:solidFill>
            <a:srgbClr val="1B3B3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44488" y="493776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CLAIM:  </a:t>
            </a:r>
            <a:r>
              <a:rPr lang="en-US" sz="1200" dirty="0">
                <a:solidFill>
                  <a:srgbClr val="D7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measured results from the actual demo run, do not hard-code unverified exposure or latency figures.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Deployable Agent Governance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76218" cy="4434840"/>
          </a:xfrm>
          <a:prstGeom prst="roundRect">
            <a:avLst>
              <a:gd name="adj" fmla="val 2046"/>
            </a:avLst>
          </a:prstGeom>
          <a:solidFill>
            <a:srgbClr val="141F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3576218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57400"/>
            <a:ext cx="3576218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HACKATHON MVP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307329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5-vector policy coverage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sqlglot AST + SQLite sandbox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Optional Gemini Flash repair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Stitch/Tailwind SOC telemetry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Reproducible attack and safety test cases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07738" y="1691640"/>
            <a:ext cx="3576218" cy="4434840"/>
          </a:xfrm>
          <a:prstGeom prst="roundRect">
            <a:avLst>
              <a:gd name="adj" fmla="val 2046"/>
            </a:avLst>
          </a:prstGeom>
          <a:solidFill>
            <a:srgbClr val="141F35"/>
          </a:solidFill>
          <a:ln/>
        </p:spPr>
      </p:sp>
      <p:sp>
        <p:nvSpPr>
          <p:cNvPr id="10" name="Shape 8"/>
          <p:cNvSpPr/>
          <p:nvPr/>
        </p:nvSpPr>
        <p:spPr>
          <a:xfrm>
            <a:off x="4307738" y="1691640"/>
            <a:ext cx="3576218" cy="685800"/>
          </a:xfrm>
          <a:prstGeom prst="roundRect">
            <a:avLst>
              <a:gd name="adj" fmla="val 10667"/>
            </a:avLst>
          </a:prstGeom>
          <a:solidFill>
            <a:srgbClr val="22D3EE"/>
          </a:solidFill>
          <a:ln/>
        </p:spPr>
      </p:sp>
      <p:sp>
        <p:nvSpPr>
          <p:cNvPr id="11" name="Shape 9"/>
          <p:cNvSpPr/>
          <p:nvPr/>
        </p:nvSpPr>
        <p:spPr>
          <a:xfrm>
            <a:off x="4307738" y="2057400"/>
            <a:ext cx="3576218" cy="320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36338" y="169164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EDGE &amp; MOBILE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536338" y="214884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82058" y="2651760"/>
            <a:ext cx="307329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Local deterministic checks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Android / edge sandbox experiments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Offline policy cache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Device-aware resource limits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Benchmark latency on target hardware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58277" y="1691640"/>
            <a:ext cx="3576218" cy="4434840"/>
          </a:xfrm>
          <a:prstGeom prst="roundRect">
            <a:avLst>
              <a:gd name="adj" fmla="val 2046"/>
            </a:avLst>
          </a:prstGeom>
          <a:solidFill>
            <a:srgbClr val="141F35"/>
          </a:solidFill>
          <a:ln/>
        </p:spPr>
      </p:sp>
      <p:sp>
        <p:nvSpPr>
          <p:cNvPr id="16" name="Shape 14"/>
          <p:cNvSpPr/>
          <p:nvPr/>
        </p:nvSpPr>
        <p:spPr>
          <a:xfrm>
            <a:off x="8158277" y="1691640"/>
            <a:ext cx="3576218" cy="685800"/>
          </a:xfrm>
          <a:prstGeom prst="roundRect">
            <a:avLst>
              <a:gd name="adj" fmla="val 10667"/>
            </a:avLst>
          </a:prstGeom>
          <a:solidFill>
            <a:srgbClr val="FB923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58277" y="2057400"/>
            <a:ext cx="3576218" cy="3200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86876" y="1691640"/>
            <a:ext cx="34587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ENTERPRISE PLATFORM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8432597" y="2651760"/>
            <a:ext cx="307329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Multi-tenant policy governance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MCP and Kubernetes gateways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Compliance and audit exports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Pluggable on-prem repair models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AEBBD1"/>
                </a:solidFill>
                <a:ea typeface="Calibri" pitchFamily="34" charset="-122"/>
                <a:cs typeface="Calibri" pitchFamily="34" charset="-120"/>
              </a:rPr>
              <a:t>Human approval workflows for high-impact actions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843</Words>
  <Application>Microsoft Office PowerPoint</Application>
  <PresentationFormat>Widescreen</PresentationFormat>
  <Paragraphs>161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Praneesh Gattadi</cp:lastModifiedBy>
  <cp:revision>18</cp:revision>
  <dcterms:created xsi:type="dcterms:W3CDTF">2026-09-22T15:49:00Z</dcterms:created>
  <dcterms:modified xsi:type="dcterms:W3CDTF">2026-09-22T16:17:35Z</dcterms:modified>
</cp:coreProperties>
</file>